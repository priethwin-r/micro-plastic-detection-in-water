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2" r:id="rId3"/>
    <p:sldId id="261" r:id="rId4"/>
    <p:sldId id="258" r:id="rId5"/>
    <p:sldId id="263" r:id="rId6"/>
    <p:sldId id="259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330" y="2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B8395-1B1C-6276-41B7-031BD6DFC6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6EBF1B-214F-D0A9-99B0-A87245DD7F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1C342D-0A97-A463-D2A8-AADCE03CF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60512-2BD8-4A3B-8D2E-4E9C79D047A5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579DD6-0B93-1E6C-86F1-25F7B3303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F2225F-850D-98F2-A58B-53A4016C5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96405-0D78-44B3-85E5-DA825BF20C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15126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90793-A888-AC5F-C1CB-02A2BE237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A54CA3-4800-6579-B05A-C7F7843A77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AF579C-0C88-2CD6-06DC-E48C82D4B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60512-2BD8-4A3B-8D2E-4E9C79D047A5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091216-BBDC-7E7C-1E6E-22316BBD9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7402D0-975B-0F65-B76C-210095311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96405-0D78-44B3-85E5-DA825BF20C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52993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4B49F-D676-8EAC-4815-D15F8141D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3DA91D-86B4-4A2C-1F84-F30CC06EB4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4509A7-885B-BBBA-C8A9-012AF90A5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60512-2BD8-4A3B-8D2E-4E9C79D047A5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AE1A20-DB31-CD7F-3816-81E4B8EA6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E1D119-BCF2-10C7-B558-0E7F93EDF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96405-0D78-44B3-85E5-DA825BF20C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53819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E86C7-BA11-6828-6ABC-4C4D43B9F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2CD90A-7568-ABCE-29A3-1039CB4F76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72B4DE-BBB2-2BC9-F0ED-C023B8F850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EA5F04-CAAF-E287-CB1F-D44FC2AA1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60512-2BD8-4A3B-8D2E-4E9C79D047A5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CA65B9-E8D3-B091-18B2-6E3D8BF14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131D14-56BE-61C5-A603-4A232BE34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96405-0D78-44B3-85E5-DA825BF20C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82090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9A0CD-F7D7-99AF-89E1-A57F32DE4B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57AC83-A9EE-6F99-F34C-E17E74A4EC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CD1381-F7DF-FF7A-8834-9E20EBE170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42E77A-7375-72DF-CAAE-5A744B0548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47B55A-4D1F-D5D6-E029-C16A548579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8C042A-1170-4448-10C6-FD6E608E3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60512-2BD8-4A3B-8D2E-4E9C79D047A5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1EE7DB-555F-3A4A-D55F-022C0D9F9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4AE9D3-A5ED-F9E9-C5FD-1AD6A7F17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96405-0D78-44B3-85E5-DA825BF20C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44059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FAD5E-BCAC-CC6A-35E1-E0FBFB079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870098-C869-5E10-0D5D-E81073175D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60512-2BD8-4A3B-8D2E-4E9C79D047A5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AC5755-8543-0C5B-8002-50FB93E6A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1DFF5D-EF08-F39D-3522-AE5CF86BA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96405-0D78-44B3-85E5-DA825BF20C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95711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C21980-BF16-EA87-0698-614EA92D2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60512-2BD8-4A3B-8D2E-4E9C79D047A5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9A3F55-DA2F-D442-EDBB-A58562101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1140D8-6A5F-A4FE-A3F8-F50482142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96405-0D78-44B3-85E5-DA825BF20C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72902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83BF7-457F-FFF3-63B3-3DAF2EC57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4B1184-34C3-9E1F-54E8-F009E8F92D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FA9564-FF5E-CED0-B8F3-54EEF4AABA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21590A-2B17-BDD7-9286-334A6C143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60512-2BD8-4A3B-8D2E-4E9C79D047A5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E4EC94-5093-190E-CCEC-9D1B0D3B5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1D5E02-3174-5005-CB02-E47D96D64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96405-0D78-44B3-85E5-DA825BF20C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02429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D5CB1-681E-CECF-4A93-826907147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AE5396-F670-7582-5CFA-8B61079C8C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2DD255-6F07-7549-8384-474AE3184B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889CA7-061D-38A9-8EEE-040363C78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60512-2BD8-4A3B-8D2E-4E9C79D047A5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015BF9-1B7C-ED06-94A4-36F3B40DA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C9C2AB-B805-01BB-8321-9526888FA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96405-0D78-44B3-85E5-DA825BF20C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28924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B6AEB-5949-46C9-E8C8-74738944B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2EA67D-2DC8-D1BD-66F6-9505567C75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0DD4F8-0D13-EBD6-17B6-9D72874F3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60512-2BD8-4A3B-8D2E-4E9C79D047A5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C8B1EC-006B-03CC-69E2-733F2177F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016FD4-D596-2B6C-F6FF-7AED5AC04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96405-0D78-44B3-85E5-DA825BF20C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8277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812A55-6DE8-1095-1A41-604E64E340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5F540C-769E-FE10-A105-60F8AE00F2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C4B96D-5D8F-8690-F993-B0D6DD1F2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60512-2BD8-4A3B-8D2E-4E9C79D047A5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1D8D29-A739-591C-535D-1DA8EF492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4052AB-B9A5-361C-CC1D-5CE946F31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96405-0D78-44B3-85E5-DA825BF20C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2183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AD70D1-B36D-26FB-AFB4-A45B862E1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CD4A4C-F57D-475A-0629-C35499C7B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6E98FC-81A2-DE61-A7F8-6A01ADA861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860512-2BD8-4A3B-8D2E-4E9C79D047A5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21607A-E4C4-4BC8-F0AE-C7264E3A58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93B22D-1D0A-4E7F-15D7-C4F06A8D15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D96405-0D78-44B3-85E5-DA825BF20C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2531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B996D-3AAF-8F17-ED1A-97CA7E461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34BE1B-1F5E-3E43-D1C5-36C28F6C68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3760" y="2164079"/>
            <a:ext cx="9906000" cy="4328795"/>
          </a:xfrm>
        </p:spPr>
        <p:txBody>
          <a:bodyPr/>
          <a:lstStyle/>
          <a:p>
            <a:r>
              <a:rPr lang="en-IN" sz="2400" b="1" dirty="0"/>
              <a:t>TITLE OF PROJECT: </a:t>
            </a:r>
            <a:r>
              <a:rPr lang="en-IN" sz="2400" dirty="0"/>
              <a:t>Microplastic detection in water using low cost sensors</a:t>
            </a:r>
          </a:p>
          <a:p>
            <a:pPr marL="0" indent="0">
              <a:buNone/>
            </a:pPr>
            <a:endParaRPr lang="en-IN" sz="2400" dirty="0"/>
          </a:p>
          <a:p>
            <a:r>
              <a:rPr lang="en-IN" sz="2400" b="1" dirty="0"/>
              <a:t>NAME : </a:t>
            </a:r>
            <a:r>
              <a:rPr lang="en-IN" sz="2400" dirty="0"/>
              <a:t>Priethwin R     (61782324103123)</a:t>
            </a:r>
          </a:p>
          <a:p>
            <a:pPr marL="0" indent="0">
              <a:buNone/>
            </a:pPr>
            <a:r>
              <a:rPr lang="en-IN" sz="2400" b="1" dirty="0"/>
              <a:t>                 </a:t>
            </a:r>
            <a:r>
              <a:rPr lang="en-IN" sz="2400" dirty="0" err="1"/>
              <a:t>Andhakumar</a:t>
            </a:r>
            <a:r>
              <a:rPr lang="en-IN" sz="2400" dirty="0"/>
              <a:t> S (61782324103006)</a:t>
            </a:r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r>
              <a:rPr lang="en-IN" sz="2400" b="1" dirty="0"/>
              <a:t>  GUIDE   : </a:t>
            </a:r>
            <a:r>
              <a:rPr lang="en-IN" sz="2400" dirty="0"/>
              <a:t>Asst prof </a:t>
            </a:r>
            <a:r>
              <a:rPr lang="en-IN" sz="2400" b="1" dirty="0"/>
              <a:t> </a:t>
            </a:r>
            <a:r>
              <a:rPr lang="en-IN" sz="2400" dirty="0" err="1"/>
              <a:t>Dr.M.Hema</a:t>
            </a:r>
            <a:r>
              <a:rPr lang="en-IN" sz="2400" dirty="0"/>
              <a:t> Kumar</a:t>
            </a:r>
            <a:endParaRPr lang="en-IN" sz="24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F54A5E8-B598-9756-410D-D147DCC8FF3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70530"/>
          <a:stretch/>
        </p:blipFill>
        <p:spPr>
          <a:xfrm>
            <a:off x="741680" y="239468"/>
            <a:ext cx="10612120" cy="1792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690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1D02E14-C583-27EF-F67B-CA433C6F9B0C}"/>
              </a:ext>
            </a:extLst>
          </p:cNvPr>
          <p:cNvSpPr txBox="1"/>
          <p:nvPr/>
        </p:nvSpPr>
        <p:spPr>
          <a:xfrm>
            <a:off x="254643" y="312516"/>
            <a:ext cx="11655706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dirty="0">
                <a:solidFill>
                  <a:srgbClr val="FF0000"/>
                </a:solidFill>
              </a:rPr>
              <a:t>INTRODUCTION:</a:t>
            </a:r>
          </a:p>
          <a:p>
            <a:pPr>
              <a:buNone/>
            </a:pPr>
            <a:endParaRPr lang="en-IN" sz="2800" b="1" dirty="0">
              <a:solidFill>
                <a:srgbClr val="FF0000"/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/>
              <a:t>The presence of </a:t>
            </a:r>
            <a:r>
              <a:rPr lang="en-IN" sz="2800" b="1" dirty="0"/>
              <a:t>microplastics in water</a:t>
            </a:r>
            <a:r>
              <a:rPr lang="en-IN" sz="2800" dirty="0"/>
              <a:t> is an increasing environmental and public health concern. </a:t>
            </a:r>
          </a:p>
          <a:p>
            <a:pPr lvl="0"/>
            <a:endParaRPr lang="en-IN" sz="28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/>
              <a:t>Microplastics are </a:t>
            </a:r>
            <a:r>
              <a:rPr lang="en-IN" sz="2800" b="1" dirty="0"/>
              <a:t>very small and difficult to detect through conventional visual inspection methods</a:t>
            </a:r>
            <a:r>
              <a:rPr lang="en-IN" sz="28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8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/>
              <a:t>Existing laboratory-based detection techniques can be </a:t>
            </a:r>
            <a:r>
              <a:rPr lang="en-IN" sz="2800" b="1" dirty="0"/>
              <a:t>expensive, time-consuming, and require specialized equipment</a:t>
            </a:r>
            <a:r>
              <a:rPr lang="en-IN" sz="2800" dirty="0"/>
              <a:t>. </a:t>
            </a:r>
          </a:p>
          <a:p>
            <a:pPr lvl="0"/>
            <a:endParaRPr lang="en-IN" sz="28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/>
              <a:t>There is a need for a </a:t>
            </a:r>
            <a:r>
              <a:rPr lang="en-IN" sz="2800" b="1" dirty="0"/>
              <a:t>low-cost, portable, and rapid preliminary detection system</a:t>
            </a:r>
            <a:r>
              <a:rPr lang="en-IN" sz="2800" dirty="0"/>
              <a:t> for water samples. </a:t>
            </a:r>
          </a:p>
        </p:txBody>
      </p:sp>
    </p:spTree>
    <p:extLst>
      <p:ext uri="{BB962C8B-B14F-4D97-AF65-F5344CB8AC3E}">
        <p14:creationId xmlns:p14="http://schemas.microsoft.com/office/powerpoint/2010/main" val="13232313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E1B6F0E-12F3-4237-45B2-37A92420019D}"/>
              </a:ext>
            </a:extLst>
          </p:cNvPr>
          <p:cNvSpPr txBox="1"/>
          <p:nvPr/>
        </p:nvSpPr>
        <p:spPr>
          <a:xfrm>
            <a:off x="635424" y="-128528"/>
            <a:ext cx="10846662" cy="6986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rgbClr val="FF0000"/>
                </a:solidFill>
              </a:rPr>
              <a:t>OBJECTIVE: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800" b="1" dirty="0">
              <a:solidFill>
                <a:srgbClr val="FF0000"/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/>
              <a:t>To develop a </a:t>
            </a:r>
            <a:r>
              <a:rPr lang="en-IN" sz="2800" b="1" dirty="0"/>
              <a:t>low-cost and portable system</a:t>
            </a:r>
            <a:r>
              <a:rPr lang="en-IN" sz="2800" dirty="0"/>
              <a:t> for the preliminary detection of microplastics in water.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8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/>
              <a:t>To use </a:t>
            </a:r>
            <a:r>
              <a:rPr lang="en-IN" sz="2800" b="1" dirty="0"/>
              <a:t>IR optical sensing</a:t>
            </a:r>
            <a:r>
              <a:rPr lang="en-IN" sz="2800" dirty="0"/>
              <a:t> to detect suspended particles in the water sample.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8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/>
              <a:t>To measure </a:t>
            </a:r>
            <a:r>
              <a:rPr lang="en-IN" sz="2800" b="1" dirty="0"/>
              <a:t>water turbidity</a:t>
            </a:r>
            <a:r>
              <a:rPr lang="en-IN" sz="2800" dirty="0"/>
              <a:t> and </a:t>
            </a:r>
            <a:r>
              <a:rPr lang="en-IN" sz="2800" dirty="0" err="1"/>
              <a:t>analyze</a:t>
            </a:r>
            <a:r>
              <a:rPr lang="en-IN" sz="2800" dirty="0"/>
              <a:t> the sensor readings using an ESP32</a:t>
            </a:r>
          </a:p>
          <a:p>
            <a:pPr lvl="0"/>
            <a:endParaRPr lang="en-IN" sz="28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/>
              <a:t>To display the detection results on an </a:t>
            </a:r>
            <a:r>
              <a:rPr lang="en-IN" sz="2800" b="1" dirty="0"/>
              <a:t>LED display</a:t>
            </a:r>
            <a:r>
              <a:rPr lang="en-IN" sz="2800" dirty="0"/>
              <a:t> and provide an alert when required.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8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/>
              <a:t>To enable </a:t>
            </a:r>
            <a:r>
              <a:rPr lang="en-IN" sz="2800" b="1" dirty="0"/>
              <a:t>wireless monitoring and data collection</a:t>
            </a:r>
            <a:r>
              <a:rPr lang="en-IN" sz="2800" dirty="0"/>
              <a:t> for effective water quality assessment.</a:t>
            </a:r>
          </a:p>
        </p:txBody>
      </p:sp>
    </p:spTree>
    <p:extLst>
      <p:ext uri="{BB962C8B-B14F-4D97-AF65-F5344CB8AC3E}">
        <p14:creationId xmlns:p14="http://schemas.microsoft.com/office/powerpoint/2010/main" val="2970941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9EF759B-B6E0-A208-615C-DE5DF19C35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650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7182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D81BCC7-4EF5-C11D-8C8A-A429B0301568}"/>
              </a:ext>
            </a:extLst>
          </p:cNvPr>
          <p:cNvSpPr txBox="1"/>
          <p:nvPr/>
        </p:nvSpPr>
        <p:spPr>
          <a:xfrm>
            <a:off x="254642" y="151179"/>
            <a:ext cx="11157995" cy="6494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600" b="1" dirty="0">
                <a:solidFill>
                  <a:srgbClr val="FF0000"/>
                </a:solidFill>
              </a:rPr>
              <a:t>Working Principle:</a:t>
            </a:r>
          </a:p>
          <a:p>
            <a:pPr>
              <a:buNone/>
            </a:pPr>
            <a:endParaRPr lang="en-IN" sz="2600" b="1" dirty="0">
              <a:solidFill>
                <a:srgbClr val="FF0000"/>
              </a:solidFill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IN" sz="2600" dirty="0"/>
              <a:t>The </a:t>
            </a:r>
            <a:r>
              <a:rPr lang="en-IN" sz="2600" b="1" dirty="0"/>
              <a:t>water sample enters the sample chamber</a:t>
            </a:r>
            <a:r>
              <a:rPr lang="en-IN" sz="2600" dirty="0"/>
              <a:t> containing the sensing arrangement.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600" dirty="0"/>
              <a:t>The </a:t>
            </a:r>
            <a:r>
              <a:rPr lang="en-IN" sz="2600" b="1" dirty="0"/>
              <a:t>IR LED emits infrared light</a:t>
            </a:r>
            <a:r>
              <a:rPr lang="en-IN" sz="2600" dirty="0"/>
              <a:t> through the water sample.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600" dirty="0"/>
              <a:t>The </a:t>
            </a:r>
            <a:r>
              <a:rPr lang="en-IN" sz="2600" b="1" dirty="0"/>
              <a:t>IR photodiode detects changes in the received light intensity</a:t>
            </a:r>
            <a:r>
              <a:rPr lang="en-IN" sz="2600" dirty="0"/>
              <a:t> caused by suspended particles.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600" dirty="0"/>
              <a:t>The </a:t>
            </a:r>
            <a:r>
              <a:rPr lang="en-IN" sz="2600" b="1" dirty="0"/>
              <a:t>turbidity sensor measures the turbidity level</a:t>
            </a:r>
            <a:r>
              <a:rPr lang="en-IN" sz="2600" dirty="0"/>
              <a:t> of the water sample.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600" dirty="0"/>
              <a:t>The </a:t>
            </a:r>
            <a:r>
              <a:rPr lang="en-IN" sz="2600" b="1" dirty="0"/>
              <a:t>ESP32 collects and processes both sensor signals</a:t>
            </a:r>
            <a:r>
              <a:rPr lang="en-IN" sz="2600" dirty="0"/>
              <a:t> using predefined threshold values.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600" dirty="0"/>
              <a:t>The system </a:t>
            </a:r>
            <a:r>
              <a:rPr lang="en-IN" sz="2600" b="1" dirty="0"/>
              <a:t>determines the preliminary presence of possible microplastic particles</a:t>
            </a:r>
            <a:r>
              <a:rPr lang="en-IN" sz="2600" dirty="0"/>
              <a:t> based on the sensor readings.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600" dirty="0"/>
              <a:t>The </a:t>
            </a:r>
            <a:r>
              <a:rPr lang="en-IN" sz="2600" b="1" dirty="0"/>
              <a:t>LED display shows the sensor values and detection status</a:t>
            </a:r>
            <a:r>
              <a:rPr lang="en-IN" sz="2600" dirty="0"/>
              <a:t>, while the LED/buzzer provides an alert when required.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600" dirty="0"/>
              <a:t>The ESP32 </a:t>
            </a:r>
            <a:r>
              <a:rPr lang="en-IN" sz="2600" b="1" dirty="0"/>
              <a:t>can transmit the sensor data through Wi-Fi</a:t>
            </a:r>
            <a:r>
              <a:rPr lang="en-IN" sz="2600" dirty="0"/>
              <a:t> for optional remote monitoring. </a:t>
            </a:r>
          </a:p>
        </p:txBody>
      </p:sp>
    </p:spTree>
    <p:extLst>
      <p:ext uri="{BB962C8B-B14F-4D97-AF65-F5344CB8AC3E}">
        <p14:creationId xmlns:p14="http://schemas.microsoft.com/office/powerpoint/2010/main" val="20414591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BDD769E-F699-6558-4B06-C89C859BA6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6238595"/>
              </p:ext>
            </p:extLst>
          </p:nvPr>
        </p:nvGraphicFramePr>
        <p:xfrm>
          <a:off x="521110" y="294968"/>
          <a:ext cx="11120284" cy="59210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4438">
                  <a:extLst>
                    <a:ext uri="{9D8B030D-6E8A-4147-A177-3AD203B41FA5}">
                      <a16:colId xmlns:a16="http://schemas.microsoft.com/office/drawing/2014/main" val="4190570996"/>
                    </a:ext>
                  </a:extLst>
                </a:gridCol>
                <a:gridCol w="3618271">
                  <a:extLst>
                    <a:ext uri="{9D8B030D-6E8A-4147-A177-3AD203B41FA5}">
                      <a16:colId xmlns:a16="http://schemas.microsoft.com/office/drawing/2014/main" val="2564128391"/>
                    </a:ext>
                  </a:extLst>
                </a:gridCol>
                <a:gridCol w="943897">
                  <a:extLst>
                    <a:ext uri="{9D8B030D-6E8A-4147-A177-3AD203B41FA5}">
                      <a16:colId xmlns:a16="http://schemas.microsoft.com/office/drawing/2014/main" val="2564875483"/>
                    </a:ext>
                  </a:extLst>
                </a:gridCol>
                <a:gridCol w="4473678">
                  <a:extLst>
                    <a:ext uri="{9D8B030D-6E8A-4147-A177-3AD203B41FA5}">
                      <a16:colId xmlns:a16="http://schemas.microsoft.com/office/drawing/2014/main" val="1759283291"/>
                    </a:ext>
                  </a:extLst>
                </a:gridCol>
              </a:tblGrid>
              <a:tr h="838020">
                <a:tc>
                  <a:txBody>
                    <a:bodyPr/>
                    <a:lstStyle/>
                    <a:p>
                      <a:r>
                        <a:rPr lang="en-IN" dirty="0"/>
                        <a:t>COMPONENTS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DETAILS IN ONE 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QTY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PURPOSE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2500455"/>
                  </a:ext>
                </a:extLst>
              </a:tr>
              <a:tr h="833723">
                <a:tc>
                  <a:txBody>
                    <a:bodyPr/>
                    <a:lstStyle/>
                    <a:p>
                      <a:r>
                        <a:rPr lang="en-IN" dirty="0"/>
                        <a:t>sensors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IR LED + IR photodiode + turbidity sensor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1 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Detect optical changes and suspended particles in the water sample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3187028"/>
                  </a:ext>
                </a:extLst>
              </a:tr>
              <a:tr h="833723">
                <a:tc>
                  <a:txBody>
                    <a:bodyPr/>
                    <a:lstStyle/>
                    <a:p>
                      <a:r>
                        <a:rPr lang="en-IN" dirty="0"/>
                        <a:t>Key switches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Push button switch for starting/resetting the detection process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User control for the system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5611228"/>
                  </a:ext>
                </a:extLst>
              </a:tr>
              <a:tr h="833723">
                <a:tc>
                  <a:txBody>
                    <a:bodyPr/>
                    <a:lstStyle/>
                    <a:p>
                      <a:r>
                        <a:rPr lang="en-IN" dirty="0"/>
                        <a:t>Display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0.96-inch LED/OLED display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Display microplastic detection status and sensor readings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2700739"/>
                  </a:ext>
                </a:extLst>
              </a:tr>
              <a:tr h="833723">
                <a:tc>
                  <a:txBody>
                    <a:bodyPr/>
                    <a:lstStyle/>
                    <a:p>
                      <a:r>
                        <a:rPr lang="en-IN" dirty="0"/>
                        <a:t>Interface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ESP32 development board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Processes sensor signals and controls the system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5855227"/>
                  </a:ext>
                </a:extLst>
              </a:tr>
              <a:tr h="833723">
                <a:tc>
                  <a:txBody>
                    <a:bodyPr/>
                    <a:lstStyle/>
                    <a:p>
                      <a:r>
                        <a:rPr lang="en-IN" dirty="0"/>
                        <a:t>Wireless connectivity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ESP32 built-in Wi-Fi/Bluetooth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Enables wireless transmission of detection 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7755795"/>
                  </a:ext>
                </a:extLst>
              </a:tr>
              <a:tr h="833723">
                <a:tc>
                  <a:txBody>
                    <a:bodyPr/>
                    <a:lstStyle/>
                    <a:p>
                      <a:r>
                        <a:rPr lang="en-IN" dirty="0"/>
                        <a:t>Cloud connectivity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Blynk via ESP32 Wi-Fi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Store and monitor sensor readings remotely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34111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92024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397</Words>
  <Application>Microsoft Office PowerPoint</Application>
  <PresentationFormat>Widescreen</PresentationFormat>
  <Paragraphs>64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priethwin r</dc:creator>
  <cp:lastModifiedBy>priethwin r</cp:lastModifiedBy>
  <cp:revision>2</cp:revision>
  <dcterms:created xsi:type="dcterms:W3CDTF">2026-08-09T04:47:01Z</dcterms:created>
  <dcterms:modified xsi:type="dcterms:W3CDTF">2026-08-11T15:19:16Z</dcterms:modified>
</cp:coreProperties>
</file>