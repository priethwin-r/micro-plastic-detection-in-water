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7" r:id="rId2"/>
    <p:sldId id="258" r:id="rId3"/>
    <p:sldId id="259" r:id="rId4"/>
    <p:sldId id="262" r:id="rId5"/>
    <p:sldId id="260" r:id="rId6"/>
    <p:sldId id="261" r:id="rId7"/>
    <p:sldId id="263" r:id="rId8"/>
    <p:sldId id="265"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5" d="100"/>
          <a:sy n="75" d="100"/>
        </p:scale>
        <p:origin x="97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BEF539-8A62-4F60-AC10-BE9301880F52}" type="datetimeFigureOut">
              <a:rPr lang="en-IN" smtClean="0"/>
              <a:t>18-08-2026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F5572B-B3D6-4E05-B332-33ADA9972B0D}" type="slidenum">
              <a:rPr lang="en-IN" smtClean="0"/>
              <a:t>‹#›</a:t>
            </a:fld>
            <a:endParaRPr lang="en-IN"/>
          </a:p>
        </p:txBody>
      </p:sp>
    </p:spTree>
    <p:extLst>
      <p:ext uri="{BB962C8B-B14F-4D97-AF65-F5344CB8AC3E}">
        <p14:creationId xmlns:p14="http://schemas.microsoft.com/office/powerpoint/2010/main" val="3204485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7F5572B-B3D6-4E05-B332-33ADA9972B0D}" type="slidenum">
              <a:rPr lang="en-IN" smtClean="0"/>
              <a:t>4</a:t>
            </a:fld>
            <a:endParaRPr lang="en-IN"/>
          </a:p>
        </p:txBody>
      </p:sp>
    </p:spTree>
    <p:extLst>
      <p:ext uri="{BB962C8B-B14F-4D97-AF65-F5344CB8AC3E}">
        <p14:creationId xmlns:p14="http://schemas.microsoft.com/office/powerpoint/2010/main" val="2944771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15732-7A6D-A86F-F6DC-6971A0AE367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60AB7BD-5683-A5FF-8090-920BAD0C78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A4AA413-E972-8A71-757C-A7EA05A37F26}"/>
              </a:ext>
            </a:extLst>
          </p:cNvPr>
          <p:cNvSpPr>
            <a:spLocks noGrp="1"/>
          </p:cNvSpPr>
          <p:nvPr>
            <p:ph type="dt" sz="half" idx="10"/>
          </p:nvPr>
        </p:nvSpPr>
        <p:spPr/>
        <p:txBody>
          <a:bodyPr/>
          <a:lstStyle/>
          <a:p>
            <a:fld id="{D0C237F8-6923-45AF-A0BC-21CCE9F55DEF}" type="datetimeFigureOut">
              <a:rPr lang="en-IN" smtClean="0"/>
              <a:t>18-08-2026</a:t>
            </a:fld>
            <a:endParaRPr lang="en-IN"/>
          </a:p>
        </p:txBody>
      </p:sp>
      <p:sp>
        <p:nvSpPr>
          <p:cNvPr id="5" name="Footer Placeholder 4">
            <a:extLst>
              <a:ext uri="{FF2B5EF4-FFF2-40B4-BE49-F238E27FC236}">
                <a16:creationId xmlns:a16="http://schemas.microsoft.com/office/drawing/2014/main" id="{D1565E63-0460-564F-04DC-83FBF80B4B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55C753-5317-D2DE-61D4-9042FAB9E455}"/>
              </a:ext>
            </a:extLst>
          </p:cNvPr>
          <p:cNvSpPr>
            <a:spLocks noGrp="1"/>
          </p:cNvSpPr>
          <p:nvPr>
            <p:ph type="sldNum" sz="quarter" idx="12"/>
          </p:nvPr>
        </p:nvSpPr>
        <p:spPr/>
        <p:txBody>
          <a:bodyPr/>
          <a:lstStyle/>
          <a:p>
            <a:fld id="{B72404BF-1FA9-4694-8950-B7DC6E67965F}" type="slidenum">
              <a:rPr lang="en-IN" smtClean="0"/>
              <a:t>‹#›</a:t>
            </a:fld>
            <a:endParaRPr lang="en-IN"/>
          </a:p>
        </p:txBody>
      </p:sp>
    </p:spTree>
    <p:extLst>
      <p:ext uri="{BB962C8B-B14F-4D97-AF65-F5344CB8AC3E}">
        <p14:creationId xmlns:p14="http://schemas.microsoft.com/office/powerpoint/2010/main" val="1279640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92341-1523-C2CA-8341-9F8E9BA4074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1E27D7C-95B1-52A9-96DF-319CC76258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508F6F3-D16E-EDD7-94B0-825326BC8381}"/>
              </a:ext>
            </a:extLst>
          </p:cNvPr>
          <p:cNvSpPr>
            <a:spLocks noGrp="1"/>
          </p:cNvSpPr>
          <p:nvPr>
            <p:ph type="dt" sz="half" idx="10"/>
          </p:nvPr>
        </p:nvSpPr>
        <p:spPr/>
        <p:txBody>
          <a:bodyPr/>
          <a:lstStyle/>
          <a:p>
            <a:fld id="{D0C237F8-6923-45AF-A0BC-21CCE9F55DEF}" type="datetimeFigureOut">
              <a:rPr lang="en-IN" smtClean="0"/>
              <a:t>18-08-2026</a:t>
            </a:fld>
            <a:endParaRPr lang="en-IN"/>
          </a:p>
        </p:txBody>
      </p:sp>
      <p:sp>
        <p:nvSpPr>
          <p:cNvPr id="5" name="Footer Placeholder 4">
            <a:extLst>
              <a:ext uri="{FF2B5EF4-FFF2-40B4-BE49-F238E27FC236}">
                <a16:creationId xmlns:a16="http://schemas.microsoft.com/office/drawing/2014/main" id="{68D99F06-5574-05AA-51BB-D5BEE75BD3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451ED4-C6EE-93E0-3C09-6059958E18C0}"/>
              </a:ext>
            </a:extLst>
          </p:cNvPr>
          <p:cNvSpPr>
            <a:spLocks noGrp="1"/>
          </p:cNvSpPr>
          <p:nvPr>
            <p:ph type="sldNum" sz="quarter" idx="12"/>
          </p:nvPr>
        </p:nvSpPr>
        <p:spPr/>
        <p:txBody>
          <a:bodyPr/>
          <a:lstStyle/>
          <a:p>
            <a:fld id="{B72404BF-1FA9-4694-8950-B7DC6E67965F}" type="slidenum">
              <a:rPr lang="en-IN" smtClean="0"/>
              <a:t>‹#›</a:t>
            </a:fld>
            <a:endParaRPr lang="en-IN"/>
          </a:p>
        </p:txBody>
      </p:sp>
    </p:spTree>
    <p:extLst>
      <p:ext uri="{BB962C8B-B14F-4D97-AF65-F5344CB8AC3E}">
        <p14:creationId xmlns:p14="http://schemas.microsoft.com/office/powerpoint/2010/main" val="2540363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C1BCB-6291-EBCC-4A9C-A9B517A233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01147E5-5474-4483-DC38-C4F26A7DBFF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92C6A34-9CA4-974E-AC65-456687394FF2}"/>
              </a:ext>
            </a:extLst>
          </p:cNvPr>
          <p:cNvSpPr>
            <a:spLocks noGrp="1"/>
          </p:cNvSpPr>
          <p:nvPr>
            <p:ph type="dt" sz="half" idx="10"/>
          </p:nvPr>
        </p:nvSpPr>
        <p:spPr/>
        <p:txBody>
          <a:bodyPr/>
          <a:lstStyle/>
          <a:p>
            <a:fld id="{D0C237F8-6923-45AF-A0BC-21CCE9F55DEF}" type="datetimeFigureOut">
              <a:rPr lang="en-IN" smtClean="0"/>
              <a:t>18-08-2026</a:t>
            </a:fld>
            <a:endParaRPr lang="en-IN"/>
          </a:p>
        </p:txBody>
      </p:sp>
      <p:sp>
        <p:nvSpPr>
          <p:cNvPr id="5" name="Footer Placeholder 4">
            <a:extLst>
              <a:ext uri="{FF2B5EF4-FFF2-40B4-BE49-F238E27FC236}">
                <a16:creationId xmlns:a16="http://schemas.microsoft.com/office/drawing/2014/main" id="{6F090A73-C9CD-4BE1-2F53-BACA92C8D3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DBCE05-6F2D-E00F-AB79-7C97908E93F9}"/>
              </a:ext>
            </a:extLst>
          </p:cNvPr>
          <p:cNvSpPr>
            <a:spLocks noGrp="1"/>
          </p:cNvSpPr>
          <p:nvPr>
            <p:ph type="sldNum" sz="quarter" idx="12"/>
          </p:nvPr>
        </p:nvSpPr>
        <p:spPr/>
        <p:txBody>
          <a:bodyPr/>
          <a:lstStyle/>
          <a:p>
            <a:fld id="{B72404BF-1FA9-4694-8950-B7DC6E67965F}" type="slidenum">
              <a:rPr lang="en-IN" smtClean="0"/>
              <a:t>‹#›</a:t>
            </a:fld>
            <a:endParaRPr lang="en-IN"/>
          </a:p>
        </p:txBody>
      </p:sp>
    </p:spTree>
    <p:extLst>
      <p:ext uri="{BB962C8B-B14F-4D97-AF65-F5344CB8AC3E}">
        <p14:creationId xmlns:p14="http://schemas.microsoft.com/office/powerpoint/2010/main" val="1694647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C382A-04C8-ECAB-217A-1161E9BFD95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4D29CF2-628C-4AD2-3953-73391F3F3E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C781494-BC7D-0551-9DD3-CF0A950F39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20D9728-430B-7206-F3EA-2CFBBA5E63BA}"/>
              </a:ext>
            </a:extLst>
          </p:cNvPr>
          <p:cNvSpPr>
            <a:spLocks noGrp="1"/>
          </p:cNvSpPr>
          <p:nvPr>
            <p:ph type="dt" sz="half" idx="10"/>
          </p:nvPr>
        </p:nvSpPr>
        <p:spPr/>
        <p:txBody>
          <a:bodyPr/>
          <a:lstStyle/>
          <a:p>
            <a:fld id="{D0C237F8-6923-45AF-A0BC-21CCE9F55DEF}" type="datetimeFigureOut">
              <a:rPr lang="en-IN" smtClean="0"/>
              <a:t>18-08-2026</a:t>
            </a:fld>
            <a:endParaRPr lang="en-IN"/>
          </a:p>
        </p:txBody>
      </p:sp>
      <p:sp>
        <p:nvSpPr>
          <p:cNvPr id="6" name="Footer Placeholder 5">
            <a:extLst>
              <a:ext uri="{FF2B5EF4-FFF2-40B4-BE49-F238E27FC236}">
                <a16:creationId xmlns:a16="http://schemas.microsoft.com/office/drawing/2014/main" id="{77376A69-AF22-638B-ED1E-CE8AC10F1F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12E7EFA-C220-29CE-E37F-93DB0537174E}"/>
              </a:ext>
            </a:extLst>
          </p:cNvPr>
          <p:cNvSpPr>
            <a:spLocks noGrp="1"/>
          </p:cNvSpPr>
          <p:nvPr>
            <p:ph type="sldNum" sz="quarter" idx="12"/>
          </p:nvPr>
        </p:nvSpPr>
        <p:spPr/>
        <p:txBody>
          <a:bodyPr/>
          <a:lstStyle/>
          <a:p>
            <a:fld id="{B72404BF-1FA9-4694-8950-B7DC6E67965F}" type="slidenum">
              <a:rPr lang="en-IN" smtClean="0"/>
              <a:t>‹#›</a:t>
            </a:fld>
            <a:endParaRPr lang="en-IN"/>
          </a:p>
        </p:txBody>
      </p:sp>
    </p:spTree>
    <p:extLst>
      <p:ext uri="{BB962C8B-B14F-4D97-AF65-F5344CB8AC3E}">
        <p14:creationId xmlns:p14="http://schemas.microsoft.com/office/powerpoint/2010/main" val="23141216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9ED4A-475E-B300-D778-C8969AE2A5C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8641EFE-6149-7616-C457-8BBB1F10C3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26A572-6A18-F2B8-5796-CB8F597BF1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83EBACC-8004-5487-92FE-DE8429301C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11C248-E680-776D-AF3D-AE1DA20C256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4E55A23-879D-ECDA-3F8D-B29BE9C60C53}"/>
              </a:ext>
            </a:extLst>
          </p:cNvPr>
          <p:cNvSpPr>
            <a:spLocks noGrp="1"/>
          </p:cNvSpPr>
          <p:nvPr>
            <p:ph type="dt" sz="half" idx="10"/>
          </p:nvPr>
        </p:nvSpPr>
        <p:spPr/>
        <p:txBody>
          <a:bodyPr/>
          <a:lstStyle/>
          <a:p>
            <a:fld id="{D0C237F8-6923-45AF-A0BC-21CCE9F55DEF}" type="datetimeFigureOut">
              <a:rPr lang="en-IN" smtClean="0"/>
              <a:t>18-08-2026</a:t>
            </a:fld>
            <a:endParaRPr lang="en-IN"/>
          </a:p>
        </p:txBody>
      </p:sp>
      <p:sp>
        <p:nvSpPr>
          <p:cNvPr id="8" name="Footer Placeholder 7">
            <a:extLst>
              <a:ext uri="{FF2B5EF4-FFF2-40B4-BE49-F238E27FC236}">
                <a16:creationId xmlns:a16="http://schemas.microsoft.com/office/drawing/2014/main" id="{CEE6E72F-EFB8-44FB-E227-053A14FECEC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C2DAFF1-8425-1998-067B-03DCFBDA7C3E}"/>
              </a:ext>
            </a:extLst>
          </p:cNvPr>
          <p:cNvSpPr>
            <a:spLocks noGrp="1"/>
          </p:cNvSpPr>
          <p:nvPr>
            <p:ph type="sldNum" sz="quarter" idx="12"/>
          </p:nvPr>
        </p:nvSpPr>
        <p:spPr/>
        <p:txBody>
          <a:bodyPr/>
          <a:lstStyle/>
          <a:p>
            <a:fld id="{B72404BF-1FA9-4694-8950-B7DC6E67965F}" type="slidenum">
              <a:rPr lang="en-IN" smtClean="0"/>
              <a:t>‹#›</a:t>
            </a:fld>
            <a:endParaRPr lang="en-IN"/>
          </a:p>
        </p:txBody>
      </p:sp>
    </p:spTree>
    <p:extLst>
      <p:ext uri="{BB962C8B-B14F-4D97-AF65-F5344CB8AC3E}">
        <p14:creationId xmlns:p14="http://schemas.microsoft.com/office/powerpoint/2010/main" val="36335284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0D85C-9852-5B7D-D9F3-D02EF38F7EE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6D13840-F86F-33B8-7897-0C4D1E1C1D56}"/>
              </a:ext>
            </a:extLst>
          </p:cNvPr>
          <p:cNvSpPr>
            <a:spLocks noGrp="1"/>
          </p:cNvSpPr>
          <p:nvPr>
            <p:ph type="dt" sz="half" idx="10"/>
          </p:nvPr>
        </p:nvSpPr>
        <p:spPr/>
        <p:txBody>
          <a:bodyPr/>
          <a:lstStyle/>
          <a:p>
            <a:fld id="{D0C237F8-6923-45AF-A0BC-21CCE9F55DEF}" type="datetimeFigureOut">
              <a:rPr lang="en-IN" smtClean="0"/>
              <a:t>18-08-2026</a:t>
            </a:fld>
            <a:endParaRPr lang="en-IN"/>
          </a:p>
        </p:txBody>
      </p:sp>
      <p:sp>
        <p:nvSpPr>
          <p:cNvPr id="4" name="Footer Placeholder 3">
            <a:extLst>
              <a:ext uri="{FF2B5EF4-FFF2-40B4-BE49-F238E27FC236}">
                <a16:creationId xmlns:a16="http://schemas.microsoft.com/office/drawing/2014/main" id="{36EC4919-0F24-1A49-D3A4-6CDDAAA6C9D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C2F2277-83F2-C274-AB56-E57F76E09402}"/>
              </a:ext>
            </a:extLst>
          </p:cNvPr>
          <p:cNvSpPr>
            <a:spLocks noGrp="1"/>
          </p:cNvSpPr>
          <p:nvPr>
            <p:ph type="sldNum" sz="quarter" idx="12"/>
          </p:nvPr>
        </p:nvSpPr>
        <p:spPr/>
        <p:txBody>
          <a:bodyPr/>
          <a:lstStyle/>
          <a:p>
            <a:fld id="{B72404BF-1FA9-4694-8950-B7DC6E67965F}" type="slidenum">
              <a:rPr lang="en-IN" smtClean="0"/>
              <a:t>‹#›</a:t>
            </a:fld>
            <a:endParaRPr lang="en-IN"/>
          </a:p>
        </p:txBody>
      </p:sp>
    </p:spTree>
    <p:extLst>
      <p:ext uri="{BB962C8B-B14F-4D97-AF65-F5344CB8AC3E}">
        <p14:creationId xmlns:p14="http://schemas.microsoft.com/office/powerpoint/2010/main" val="1119485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77A68E-EBCE-226F-DADA-9C7E14C8A1AB}"/>
              </a:ext>
            </a:extLst>
          </p:cNvPr>
          <p:cNvSpPr>
            <a:spLocks noGrp="1"/>
          </p:cNvSpPr>
          <p:nvPr>
            <p:ph type="dt" sz="half" idx="10"/>
          </p:nvPr>
        </p:nvSpPr>
        <p:spPr/>
        <p:txBody>
          <a:bodyPr/>
          <a:lstStyle/>
          <a:p>
            <a:fld id="{D0C237F8-6923-45AF-A0BC-21CCE9F55DEF}" type="datetimeFigureOut">
              <a:rPr lang="en-IN" smtClean="0"/>
              <a:t>18-08-2026</a:t>
            </a:fld>
            <a:endParaRPr lang="en-IN"/>
          </a:p>
        </p:txBody>
      </p:sp>
      <p:sp>
        <p:nvSpPr>
          <p:cNvPr id="3" name="Footer Placeholder 2">
            <a:extLst>
              <a:ext uri="{FF2B5EF4-FFF2-40B4-BE49-F238E27FC236}">
                <a16:creationId xmlns:a16="http://schemas.microsoft.com/office/drawing/2014/main" id="{45BFE18B-3D66-930B-A7F6-C69609056E2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AE794AE-3686-7D43-E908-C8ACB6A3D154}"/>
              </a:ext>
            </a:extLst>
          </p:cNvPr>
          <p:cNvSpPr>
            <a:spLocks noGrp="1"/>
          </p:cNvSpPr>
          <p:nvPr>
            <p:ph type="sldNum" sz="quarter" idx="12"/>
          </p:nvPr>
        </p:nvSpPr>
        <p:spPr/>
        <p:txBody>
          <a:bodyPr/>
          <a:lstStyle/>
          <a:p>
            <a:fld id="{B72404BF-1FA9-4694-8950-B7DC6E67965F}" type="slidenum">
              <a:rPr lang="en-IN" smtClean="0"/>
              <a:t>‹#›</a:t>
            </a:fld>
            <a:endParaRPr lang="en-IN"/>
          </a:p>
        </p:txBody>
      </p:sp>
    </p:spTree>
    <p:extLst>
      <p:ext uri="{BB962C8B-B14F-4D97-AF65-F5344CB8AC3E}">
        <p14:creationId xmlns:p14="http://schemas.microsoft.com/office/powerpoint/2010/main" val="16972365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490DC-F7CF-AA52-31A6-76E78E4DBC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A9B5838-4129-7811-5364-9518AEBF0E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1F37FA1-CF8F-D72B-0C3A-A5EC3A8303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276EF8-A066-7D28-0480-3D3455AF8E82}"/>
              </a:ext>
            </a:extLst>
          </p:cNvPr>
          <p:cNvSpPr>
            <a:spLocks noGrp="1"/>
          </p:cNvSpPr>
          <p:nvPr>
            <p:ph type="dt" sz="half" idx="10"/>
          </p:nvPr>
        </p:nvSpPr>
        <p:spPr/>
        <p:txBody>
          <a:bodyPr/>
          <a:lstStyle/>
          <a:p>
            <a:fld id="{D0C237F8-6923-45AF-A0BC-21CCE9F55DEF}" type="datetimeFigureOut">
              <a:rPr lang="en-IN" smtClean="0"/>
              <a:t>18-08-2026</a:t>
            </a:fld>
            <a:endParaRPr lang="en-IN"/>
          </a:p>
        </p:txBody>
      </p:sp>
      <p:sp>
        <p:nvSpPr>
          <p:cNvPr id="6" name="Footer Placeholder 5">
            <a:extLst>
              <a:ext uri="{FF2B5EF4-FFF2-40B4-BE49-F238E27FC236}">
                <a16:creationId xmlns:a16="http://schemas.microsoft.com/office/drawing/2014/main" id="{B902C207-17AA-7987-5D5A-8A6129EB50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712BF0C-D94E-C61B-39E2-979613352B01}"/>
              </a:ext>
            </a:extLst>
          </p:cNvPr>
          <p:cNvSpPr>
            <a:spLocks noGrp="1"/>
          </p:cNvSpPr>
          <p:nvPr>
            <p:ph type="sldNum" sz="quarter" idx="12"/>
          </p:nvPr>
        </p:nvSpPr>
        <p:spPr/>
        <p:txBody>
          <a:bodyPr/>
          <a:lstStyle/>
          <a:p>
            <a:fld id="{B72404BF-1FA9-4694-8950-B7DC6E67965F}" type="slidenum">
              <a:rPr lang="en-IN" smtClean="0"/>
              <a:t>‹#›</a:t>
            </a:fld>
            <a:endParaRPr lang="en-IN"/>
          </a:p>
        </p:txBody>
      </p:sp>
    </p:spTree>
    <p:extLst>
      <p:ext uri="{BB962C8B-B14F-4D97-AF65-F5344CB8AC3E}">
        <p14:creationId xmlns:p14="http://schemas.microsoft.com/office/powerpoint/2010/main" val="277287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2B87D-32FE-F9C5-6EF5-EC73FC28D4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65B0EDF-0CB4-6A03-4D40-3590FAD935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44A9413-7FF9-29C7-BCD9-286BF5276C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D095A3-478F-C1C1-8537-087CEBBB607B}"/>
              </a:ext>
            </a:extLst>
          </p:cNvPr>
          <p:cNvSpPr>
            <a:spLocks noGrp="1"/>
          </p:cNvSpPr>
          <p:nvPr>
            <p:ph type="dt" sz="half" idx="10"/>
          </p:nvPr>
        </p:nvSpPr>
        <p:spPr/>
        <p:txBody>
          <a:bodyPr/>
          <a:lstStyle/>
          <a:p>
            <a:fld id="{D0C237F8-6923-45AF-A0BC-21CCE9F55DEF}" type="datetimeFigureOut">
              <a:rPr lang="en-IN" smtClean="0"/>
              <a:t>18-08-2026</a:t>
            </a:fld>
            <a:endParaRPr lang="en-IN"/>
          </a:p>
        </p:txBody>
      </p:sp>
      <p:sp>
        <p:nvSpPr>
          <p:cNvPr id="6" name="Footer Placeholder 5">
            <a:extLst>
              <a:ext uri="{FF2B5EF4-FFF2-40B4-BE49-F238E27FC236}">
                <a16:creationId xmlns:a16="http://schemas.microsoft.com/office/drawing/2014/main" id="{72E6DDBF-6499-EA17-A9EF-BA4EE20B58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8D1C9A4-F422-7819-56EB-0EE8D6812B0F}"/>
              </a:ext>
            </a:extLst>
          </p:cNvPr>
          <p:cNvSpPr>
            <a:spLocks noGrp="1"/>
          </p:cNvSpPr>
          <p:nvPr>
            <p:ph type="sldNum" sz="quarter" idx="12"/>
          </p:nvPr>
        </p:nvSpPr>
        <p:spPr/>
        <p:txBody>
          <a:bodyPr/>
          <a:lstStyle/>
          <a:p>
            <a:fld id="{B72404BF-1FA9-4694-8950-B7DC6E67965F}" type="slidenum">
              <a:rPr lang="en-IN" smtClean="0"/>
              <a:t>‹#›</a:t>
            </a:fld>
            <a:endParaRPr lang="en-IN"/>
          </a:p>
        </p:txBody>
      </p:sp>
    </p:spTree>
    <p:extLst>
      <p:ext uri="{BB962C8B-B14F-4D97-AF65-F5344CB8AC3E}">
        <p14:creationId xmlns:p14="http://schemas.microsoft.com/office/powerpoint/2010/main" val="779501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4F325-FF69-23F5-E39B-CC440E48EA6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F42A88F-7DDD-9DF1-FDF5-20A6C4096E0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5C007B-D7C5-34AA-BF82-3B8F56460E35}"/>
              </a:ext>
            </a:extLst>
          </p:cNvPr>
          <p:cNvSpPr>
            <a:spLocks noGrp="1"/>
          </p:cNvSpPr>
          <p:nvPr>
            <p:ph type="dt" sz="half" idx="10"/>
          </p:nvPr>
        </p:nvSpPr>
        <p:spPr/>
        <p:txBody>
          <a:bodyPr/>
          <a:lstStyle/>
          <a:p>
            <a:fld id="{D0C237F8-6923-45AF-A0BC-21CCE9F55DEF}" type="datetimeFigureOut">
              <a:rPr lang="en-IN" smtClean="0"/>
              <a:t>18-08-2026</a:t>
            </a:fld>
            <a:endParaRPr lang="en-IN"/>
          </a:p>
        </p:txBody>
      </p:sp>
      <p:sp>
        <p:nvSpPr>
          <p:cNvPr id="5" name="Footer Placeholder 4">
            <a:extLst>
              <a:ext uri="{FF2B5EF4-FFF2-40B4-BE49-F238E27FC236}">
                <a16:creationId xmlns:a16="http://schemas.microsoft.com/office/drawing/2014/main" id="{B674CF52-76A6-05C5-0252-DCE6864A0C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291D5D-1D21-4E84-DEA7-D7D50A02C806}"/>
              </a:ext>
            </a:extLst>
          </p:cNvPr>
          <p:cNvSpPr>
            <a:spLocks noGrp="1"/>
          </p:cNvSpPr>
          <p:nvPr>
            <p:ph type="sldNum" sz="quarter" idx="12"/>
          </p:nvPr>
        </p:nvSpPr>
        <p:spPr/>
        <p:txBody>
          <a:bodyPr/>
          <a:lstStyle/>
          <a:p>
            <a:fld id="{B72404BF-1FA9-4694-8950-B7DC6E67965F}" type="slidenum">
              <a:rPr lang="en-IN" smtClean="0"/>
              <a:t>‹#›</a:t>
            </a:fld>
            <a:endParaRPr lang="en-IN"/>
          </a:p>
        </p:txBody>
      </p:sp>
    </p:spTree>
    <p:extLst>
      <p:ext uri="{BB962C8B-B14F-4D97-AF65-F5344CB8AC3E}">
        <p14:creationId xmlns:p14="http://schemas.microsoft.com/office/powerpoint/2010/main" val="3179437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E1DEBB-B346-65F2-C071-DD0438F2C38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7BE55C4-4108-8A77-C98F-3A2A3B532F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F1EFE0-513C-2821-7BA7-0AB9D053E8E0}"/>
              </a:ext>
            </a:extLst>
          </p:cNvPr>
          <p:cNvSpPr>
            <a:spLocks noGrp="1"/>
          </p:cNvSpPr>
          <p:nvPr>
            <p:ph type="dt" sz="half" idx="10"/>
          </p:nvPr>
        </p:nvSpPr>
        <p:spPr/>
        <p:txBody>
          <a:bodyPr/>
          <a:lstStyle/>
          <a:p>
            <a:fld id="{D0C237F8-6923-45AF-A0BC-21CCE9F55DEF}" type="datetimeFigureOut">
              <a:rPr lang="en-IN" smtClean="0"/>
              <a:t>18-08-2026</a:t>
            </a:fld>
            <a:endParaRPr lang="en-IN"/>
          </a:p>
        </p:txBody>
      </p:sp>
      <p:sp>
        <p:nvSpPr>
          <p:cNvPr id="5" name="Footer Placeholder 4">
            <a:extLst>
              <a:ext uri="{FF2B5EF4-FFF2-40B4-BE49-F238E27FC236}">
                <a16:creationId xmlns:a16="http://schemas.microsoft.com/office/drawing/2014/main" id="{315F6306-E7DF-E733-BC91-031458121D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9F326D-CC9E-A151-E70D-2C4356F90274}"/>
              </a:ext>
            </a:extLst>
          </p:cNvPr>
          <p:cNvSpPr>
            <a:spLocks noGrp="1"/>
          </p:cNvSpPr>
          <p:nvPr>
            <p:ph type="sldNum" sz="quarter" idx="12"/>
          </p:nvPr>
        </p:nvSpPr>
        <p:spPr/>
        <p:txBody>
          <a:bodyPr/>
          <a:lstStyle/>
          <a:p>
            <a:fld id="{B72404BF-1FA9-4694-8950-B7DC6E67965F}" type="slidenum">
              <a:rPr lang="en-IN" smtClean="0"/>
              <a:t>‹#›</a:t>
            </a:fld>
            <a:endParaRPr lang="en-IN"/>
          </a:p>
        </p:txBody>
      </p:sp>
    </p:spTree>
    <p:extLst>
      <p:ext uri="{BB962C8B-B14F-4D97-AF65-F5344CB8AC3E}">
        <p14:creationId xmlns:p14="http://schemas.microsoft.com/office/powerpoint/2010/main" val="39780298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E0B188-BF7F-763C-1952-947E904475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250B6D3-0EDB-B460-DC5D-CBA23B2FF7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26BBA6-0C9D-1FE7-BA36-B9317A92D9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C237F8-6923-45AF-A0BC-21CCE9F55DEF}" type="datetimeFigureOut">
              <a:rPr lang="en-IN" smtClean="0"/>
              <a:t>18-08-2026</a:t>
            </a:fld>
            <a:endParaRPr lang="en-IN"/>
          </a:p>
        </p:txBody>
      </p:sp>
      <p:sp>
        <p:nvSpPr>
          <p:cNvPr id="5" name="Footer Placeholder 4">
            <a:extLst>
              <a:ext uri="{FF2B5EF4-FFF2-40B4-BE49-F238E27FC236}">
                <a16:creationId xmlns:a16="http://schemas.microsoft.com/office/drawing/2014/main" id="{6999FC31-DF17-CA44-F588-AF7ECC5835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DF3DA7D-C2D1-E9E7-BD5E-14CD726095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2404BF-1FA9-4694-8950-B7DC6E67965F}" type="slidenum">
              <a:rPr lang="en-IN" smtClean="0"/>
              <a:t>‹#›</a:t>
            </a:fld>
            <a:endParaRPr lang="en-IN"/>
          </a:p>
        </p:txBody>
      </p:sp>
    </p:spTree>
    <p:extLst>
      <p:ext uri="{BB962C8B-B14F-4D97-AF65-F5344CB8AC3E}">
        <p14:creationId xmlns:p14="http://schemas.microsoft.com/office/powerpoint/2010/main" val="7133929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92C03D5-655C-BC75-8538-7A844F80F4F0}"/>
              </a:ext>
            </a:extLst>
          </p:cNvPr>
          <p:cNvPicPr>
            <a:picLocks noChangeAspect="1"/>
          </p:cNvPicPr>
          <p:nvPr/>
        </p:nvPicPr>
        <p:blipFill rotWithShape="1">
          <a:blip r:embed="rId2"/>
          <a:srcRect b="70530"/>
          <a:stretch/>
        </p:blipFill>
        <p:spPr>
          <a:xfrm>
            <a:off x="344129" y="239468"/>
            <a:ext cx="11271817" cy="1903964"/>
          </a:xfrm>
          <a:prstGeom prst="rect">
            <a:avLst/>
          </a:prstGeom>
        </p:spPr>
      </p:pic>
      <p:sp>
        <p:nvSpPr>
          <p:cNvPr id="4" name="TextBox 3">
            <a:extLst>
              <a:ext uri="{FF2B5EF4-FFF2-40B4-BE49-F238E27FC236}">
                <a16:creationId xmlns:a16="http://schemas.microsoft.com/office/drawing/2014/main" id="{2BAF7F3A-272D-E948-1A5D-66CAE0CF1F74}"/>
              </a:ext>
            </a:extLst>
          </p:cNvPr>
          <p:cNvSpPr txBox="1"/>
          <p:nvPr/>
        </p:nvSpPr>
        <p:spPr>
          <a:xfrm>
            <a:off x="452284" y="2340076"/>
            <a:ext cx="11621729" cy="4708981"/>
          </a:xfrm>
          <a:prstGeom prst="rect">
            <a:avLst/>
          </a:prstGeom>
          <a:noFill/>
        </p:spPr>
        <p:txBody>
          <a:bodyPr wrap="square">
            <a:spAutoFit/>
          </a:bodyPr>
          <a:lstStyle/>
          <a:p>
            <a:pPr algn="ctr">
              <a:lnSpc>
                <a:spcPct val="150000"/>
              </a:lnSpc>
            </a:pPr>
            <a:r>
              <a:rPr lang="en-IN" sz="2400" b="1" dirty="0">
                <a:latin typeface="Times New Roman" panose="02020603050405020304" pitchFamily="18" charset="0"/>
                <a:ea typeface="Verdana" panose="020B0604030504040204" pitchFamily="34" charset="0"/>
                <a:cs typeface="Times New Roman" panose="02020603050405020304" pitchFamily="18" charset="0"/>
              </a:rPr>
              <a:t>“A GENERAL-PURPOSE COMPUTING CORE WITH COOPERATIVE MOTION DETECTION AND FEATURE EXTRACTION FOR ALWAYS-ON PWM IMAGE SENSORS”</a:t>
            </a:r>
          </a:p>
          <a:p>
            <a:endParaRPr lang="en-IN" sz="2400" b="1" dirty="0"/>
          </a:p>
          <a:p>
            <a:endParaRPr lang="en-IN" sz="2400" b="1" dirty="0"/>
          </a:p>
          <a:p>
            <a:r>
              <a:rPr lang="en-IN" sz="2400" b="1" dirty="0"/>
              <a:t>NAME :    </a:t>
            </a:r>
            <a:r>
              <a:rPr lang="en-IN" sz="2400" dirty="0"/>
              <a:t>Priethwin R           (61782324103123)</a:t>
            </a:r>
          </a:p>
          <a:p>
            <a:r>
              <a:rPr lang="en-IN" sz="2400" b="1" dirty="0"/>
              <a:t>                 </a:t>
            </a:r>
            <a:r>
              <a:rPr lang="en-IN" sz="2400" dirty="0"/>
              <a:t>Anandhakumar S  (61782324103006)</a:t>
            </a:r>
          </a:p>
          <a:p>
            <a:endParaRPr lang="en-IN" sz="2400" dirty="0"/>
          </a:p>
          <a:p>
            <a:r>
              <a:rPr lang="en-IN" sz="2400" b="1" dirty="0"/>
              <a:t> GUIDE   : </a:t>
            </a:r>
            <a:r>
              <a:rPr lang="en-IN" sz="2400" dirty="0"/>
              <a:t>Dr M Hema Kumar  AP/ECE</a:t>
            </a:r>
          </a:p>
          <a:p>
            <a:endParaRPr lang="en-IN" sz="2400" b="1" dirty="0"/>
          </a:p>
          <a:p>
            <a:endParaRPr lang="en-IN" sz="2400" b="1" dirty="0"/>
          </a:p>
        </p:txBody>
      </p:sp>
    </p:spTree>
    <p:extLst>
      <p:ext uri="{BB962C8B-B14F-4D97-AF65-F5344CB8AC3E}">
        <p14:creationId xmlns:p14="http://schemas.microsoft.com/office/powerpoint/2010/main" val="401497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3ED6F32-DDEE-F9D2-D0A4-102D3D9C9F43}"/>
              </a:ext>
            </a:extLst>
          </p:cNvPr>
          <p:cNvSpPr txBox="1"/>
          <p:nvPr/>
        </p:nvSpPr>
        <p:spPr>
          <a:xfrm>
            <a:off x="417871" y="224807"/>
            <a:ext cx="6096000" cy="400110"/>
          </a:xfrm>
          <a:prstGeom prst="rect">
            <a:avLst/>
          </a:prstGeom>
          <a:noFill/>
        </p:spPr>
        <p:txBody>
          <a:bodyPr wrap="square">
            <a:spAutoFit/>
          </a:bodyPr>
          <a:lstStyle/>
          <a:p>
            <a:r>
              <a:rPr lang="en-IN" sz="2000" b="1" dirty="0"/>
              <a:t>Problem Statement:</a:t>
            </a:r>
          </a:p>
        </p:txBody>
      </p:sp>
      <p:sp>
        <p:nvSpPr>
          <p:cNvPr id="9" name="TextBox 8">
            <a:extLst>
              <a:ext uri="{FF2B5EF4-FFF2-40B4-BE49-F238E27FC236}">
                <a16:creationId xmlns:a16="http://schemas.microsoft.com/office/drawing/2014/main" id="{C093638D-EBE2-98E0-269F-EB215C565EB2}"/>
              </a:ext>
            </a:extLst>
          </p:cNvPr>
          <p:cNvSpPr txBox="1"/>
          <p:nvPr/>
        </p:nvSpPr>
        <p:spPr>
          <a:xfrm>
            <a:off x="481781" y="894736"/>
            <a:ext cx="11818373" cy="1015663"/>
          </a:xfrm>
          <a:prstGeom prst="rect">
            <a:avLst/>
          </a:prstGeom>
          <a:noFill/>
        </p:spPr>
        <p:txBody>
          <a:bodyPr wrap="square">
            <a:spAutoFit/>
          </a:bodyPr>
          <a:lstStyle/>
          <a:p>
            <a:r>
              <a:rPr lang="en-IN" sz="2000" dirty="0"/>
              <a:t>                     </a:t>
            </a:r>
            <a:r>
              <a:rPr lang="en-IN" sz="2000" dirty="0">
                <a:latin typeface="Times New Roman" panose="02020603050405020304" pitchFamily="18" charset="0"/>
                <a:cs typeface="Times New Roman" panose="02020603050405020304" pitchFamily="18" charset="0"/>
              </a:rPr>
              <a:t>Conventional vision systems consume significant power by continuously processing redundant image data. The proposed approach addresses this issue by combining low-power motion detection with motion-triggered feature extraction directly within the image sensor.  </a:t>
            </a:r>
          </a:p>
        </p:txBody>
      </p:sp>
      <p:sp>
        <p:nvSpPr>
          <p:cNvPr id="11" name="TextBox 10">
            <a:extLst>
              <a:ext uri="{FF2B5EF4-FFF2-40B4-BE49-F238E27FC236}">
                <a16:creationId xmlns:a16="http://schemas.microsoft.com/office/drawing/2014/main" id="{D601AD0E-3583-A202-5C86-2CACC1F4D5D6}"/>
              </a:ext>
            </a:extLst>
          </p:cNvPr>
          <p:cNvSpPr txBox="1"/>
          <p:nvPr/>
        </p:nvSpPr>
        <p:spPr>
          <a:xfrm>
            <a:off x="378542" y="2450037"/>
            <a:ext cx="11434916" cy="2862322"/>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Introduction:</a:t>
            </a:r>
          </a:p>
          <a:p>
            <a:pPr>
              <a:buNone/>
            </a:pPr>
            <a:endParaRPr lang="en-IN" sz="2000" b="1" dirty="0">
              <a:latin typeface="Times New Roman" panose="02020603050405020304" pitchFamily="18" charset="0"/>
              <a:cs typeface="Times New Roman" panose="02020603050405020304" pitchFamily="18" charset="0"/>
            </a:endParaRPr>
          </a:p>
          <a:p>
            <a:pPr>
              <a:buNone/>
            </a:pPr>
            <a:r>
              <a:rPr lang="en-IN" sz="2000" dirty="0">
                <a:latin typeface="Times New Roman" panose="02020603050405020304" pitchFamily="18" charset="0"/>
                <a:cs typeface="Times New Roman" panose="02020603050405020304" pitchFamily="18" charset="0"/>
              </a:rPr>
              <a:t>                     The rapid growth of machine vision and edge-AI applications has created a need for </a:t>
            </a:r>
            <a:r>
              <a:rPr lang="en-IN" sz="2000" b="1" dirty="0">
                <a:latin typeface="Times New Roman" panose="02020603050405020304" pitchFamily="18" charset="0"/>
                <a:cs typeface="Times New Roman" panose="02020603050405020304" pitchFamily="18" charset="0"/>
              </a:rPr>
              <a:t>low-power, always-on vision systems</a:t>
            </a:r>
            <a:r>
              <a:rPr lang="en-IN" sz="2000" dirty="0">
                <a:latin typeface="Times New Roman" panose="02020603050405020304" pitchFamily="18" charset="0"/>
                <a:cs typeface="Times New Roman" panose="02020603050405020304" pitchFamily="18" charset="0"/>
              </a:rPr>
              <a:t>. Conventional vision architectures consume significant power by continuously transferring and processing image data, including redundant information from static scenes. The proposed approach addresses this challenge by integrating </a:t>
            </a:r>
            <a:r>
              <a:rPr lang="en-IN" sz="2000" b="1" dirty="0">
                <a:latin typeface="Times New Roman" panose="02020603050405020304" pitchFamily="18" charset="0"/>
                <a:cs typeface="Times New Roman" panose="02020603050405020304" pitchFamily="18" charset="0"/>
              </a:rPr>
              <a:t>motion detection and feature extraction directly within the image sensor</a:t>
            </a:r>
            <a:r>
              <a:rPr lang="en-IN" sz="2000" dirty="0">
                <a:latin typeface="Times New Roman" panose="02020603050405020304" pitchFamily="18" charset="0"/>
                <a:cs typeface="Times New Roman" panose="02020603050405020304" pitchFamily="18" charset="0"/>
              </a:rPr>
              <a:t>. Motion detection is performed using frame-difference processing, and feature extraction is activated only when motion is detected. This processing-in-sensor approach reduces unnecessary computation and data transfer, enabling </a:t>
            </a:r>
            <a:r>
              <a:rPr lang="en-IN" sz="2000" b="1" dirty="0">
                <a:latin typeface="Times New Roman" panose="02020603050405020304" pitchFamily="18" charset="0"/>
                <a:cs typeface="Times New Roman" panose="02020603050405020304" pitchFamily="18" charset="0"/>
              </a:rPr>
              <a:t>energy-efficient edge vision processing</a:t>
            </a:r>
            <a:r>
              <a:rPr lang="en-IN" sz="2000" dirty="0">
                <a:latin typeface="Times New Roman" panose="02020603050405020304" pitchFamily="18" charset="0"/>
                <a:cs typeface="Times New Roman" panose="02020603050405020304" pitchFamily="18" charset="0"/>
              </a:rPr>
              <a:t> for always-on applications. </a:t>
            </a:r>
          </a:p>
        </p:txBody>
      </p:sp>
    </p:spTree>
    <p:extLst>
      <p:ext uri="{BB962C8B-B14F-4D97-AF65-F5344CB8AC3E}">
        <p14:creationId xmlns:p14="http://schemas.microsoft.com/office/powerpoint/2010/main" val="3188750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2817DA-FF54-11F0-4FC5-50CCA7772576}"/>
              </a:ext>
            </a:extLst>
          </p:cNvPr>
          <p:cNvSpPr txBox="1"/>
          <p:nvPr/>
        </p:nvSpPr>
        <p:spPr>
          <a:xfrm>
            <a:off x="1042219" y="659717"/>
            <a:ext cx="9016182" cy="5940088"/>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Objectives:</a:t>
            </a:r>
          </a:p>
          <a:p>
            <a:pPr>
              <a:buNone/>
            </a:pPr>
            <a:endParaRPr lang="en-IN" sz="2000" b="1"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develop a low-power processing-in-sensor architecture for always-on vision applications. </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detect motion using frame-difference processing directly within the image sensor. </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activate the feature-extraction process only when motion is detected, thereby reducing unnecessary computation. </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perform feature extraction using 3 × 3 convolution, </a:t>
            </a:r>
            <a:r>
              <a:rPr lang="en-IN" sz="2000" dirty="0" err="1">
                <a:latin typeface="Times New Roman" panose="02020603050405020304" pitchFamily="18" charset="0"/>
                <a:cs typeface="Times New Roman" panose="02020603050405020304" pitchFamily="18" charset="0"/>
              </a:rPr>
              <a:t>ReLU</a:t>
            </a:r>
            <a:r>
              <a:rPr lang="en-IN" sz="2000" dirty="0">
                <a:latin typeface="Times New Roman" panose="02020603050405020304" pitchFamily="18" charset="0"/>
                <a:cs typeface="Times New Roman" panose="02020603050405020304" pitchFamily="18" charset="0"/>
              </a:rPr>
              <a:t> activation, and 2 × 2 max pooling. </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reduce unnecessary image-data transfer between the image sensor and external processing units. </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achieve energy-efficient edge processing with low power consumption and reduced hardware overhead. </a:t>
            </a:r>
          </a:p>
        </p:txBody>
      </p:sp>
    </p:spTree>
    <p:extLst>
      <p:ext uri="{BB962C8B-B14F-4D97-AF65-F5344CB8AC3E}">
        <p14:creationId xmlns:p14="http://schemas.microsoft.com/office/powerpoint/2010/main" val="54028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3ABC973-DE08-B5F6-76B0-770DADDFF1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371" y="77178"/>
            <a:ext cx="11911258" cy="6703644"/>
          </a:xfrm>
          <a:prstGeom prst="rect">
            <a:avLst/>
          </a:prstGeom>
        </p:spPr>
      </p:pic>
    </p:spTree>
    <p:extLst>
      <p:ext uri="{BB962C8B-B14F-4D97-AF65-F5344CB8AC3E}">
        <p14:creationId xmlns:p14="http://schemas.microsoft.com/office/powerpoint/2010/main" val="3131914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5709392-93C1-11D5-89AC-53CCD3006666}"/>
              </a:ext>
            </a:extLst>
          </p:cNvPr>
          <p:cNvSpPr txBox="1"/>
          <p:nvPr/>
        </p:nvSpPr>
        <p:spPr>
          <a:xfrm>
            <a:off x="457200" y="491613"/>
            <a:ext cx="11277600" cy="6247864"/>
          </a:xfrm>
          <a:prstGeom prst="rect">
            <a:avLst/>
          </a:prstGeom>
          <a:noFill/>
        </p:spPr>
        <p:txBody>
          <a:bodyPr wrap="square">
            <a:spAutoFit/>
          </a:bodyPr>
          <a:lstStyle/>
          <a:p>
            <a:pPr>
              <a:buNone/>
            </a:pP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Working:</a:t>
            </a:r>
          </a:p>
          <a:p>
            <a:endParaRPr lang="en-IN" sz="2000" b="1" dirty="0"/>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CMOS image sensor first captures the image and generates PWM signals representing the image information. These PWM signals are provided to the in-column computing core for processing. </a:t>
            </a:r>
          </a:p>
          <a:p>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During motion detection, the system compares the current frame with the previous frame using frame-difference processing. The difference is compared with predefined threshold values to determine whether a change has occurred in the scene. If the detected change exceeds the preset threshold, the system identifies the presence of motion. </a:t>
            </a:r>
          </a:p>
          <a:p>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When no motion is detected, the system continues operating in the low-power motion-detection mode. When motion is detected, the feature-extraction operation is activated for the next frame. This motion-triggered operation prevents unnecessary feature extraction when the scene remains static. </a:t>
            </a:r>
          </a:p>
          <a:p>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During feature extraction, the computing core performs a 3 × 3 convolution using weighted current integration. The convolution results are then processed using the </a:t>
            </a:r>
            <a:r>
              <a:rPr lang="en-IN" sz="2000" dirty="0" err="1">
                <a:latin typeface="Times New Roman" panose="02020603050405020304" pitchFamily="18" charset="0"/>
                <a:cs typeface="Times New Roman" panose="02020603050405020304" pitchFamily="18" charset="0"/>
              </a:rPr>
              <a:t>ReLU</a:t>
            </a:r>
            <a:r>
              <a:rPr lang="en-IN" sz="2000" dirty="0">
                <a:latin typeface="Times New Roman" panose="02020603050405020304" pitchFamily="18" charset="0"/>
                <a:cs typeface="Times New Roman" panose="02020603050405020304" pitchFamily="18" charset="0"/>
              </a:rPr>
              <a:t> activation function, followed by 2 × 2 max pooling to generate the required feature map. </a:t>
            </a:r>
          </a:p>
          <a:p>
            <a:endParaRPr lang="en-IN" sz="2000" dirty="0">
              <a:latin typeface="Times New Roman" panose="02020603050405020304" pitchFamily="18" charset="0"/>
              <a:cs typeface="Times New Roman" panose="02020603050405020304" pitchFamily="18" charset="0"/>
            </a:endParaRPr>
          </a:p>
          <a:p>
            <a:pPr>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26469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54969E1-4D67-9832-36D6-D7B5EC633187}"/>
              </a:ext>
            </a:extLst>
          </p:cNvPr>
          <p:cNvSpPr txBox="1"/>
          <p:nvPr/>
        </p:nvSpPr>
        <p:spPr>
          <a:xfrm>
            <a:off x="0" y="1074510"/>
            <a:ext cx="12192000" cy="4708981"/>
          </a:xfrm>
          <a:prstGeom prst="rect">
            <a:avLst/>
          </a:prstGeom>
          <a:noFill/>
        </p:spPr>
        <p:txBody>
          <a:bodyPr wrap="square">
            <a:spAutoFit/>
          </a:bodyPr>
          <a:lstStyle/>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extracted feature information can then be transferred to subsequent CNN layers for further processing and classification. In the experimental evaluation, the proposed computing core was used to process the first two layers of an ultra-lightweight CNN for MNIST digit classification. </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Observation:</a:t>
            </a:r>
          </a:p>
          <a:p>
            <a:endParaRPr lang="en-IN"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b="1" dirty="0">
                <a:latin typeface="Algerian" panose="04020705040A02060702" pitchFamily="82"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The system detects motion using </a:t>
            </a:r>
            <a:r>
              <a:rPr lang="en-IN" sz="2000" b="1" dirty="0">
                <a:latin typeface="Times New Roman" panose="02020603050405020304" pitchFamily="18" charset="0"/>
                <a:cs typeface="Times New Roman" panose="02020603050405020304" pitchFamily="18" charset="0"/>
              </a:rPr>
              <a:t>frame-difference processing</a:t>
            </a:r>
            <a:r>
              <a:rPr lang="en-IN" sz="2000" dirty="0">
                <a:latin typeface="Times New Roman" panose="02020603050405020304" pitchFamily="18" charset="0"/>
                <a:cs typeface="Times New Roman" panose="02020603050405020304" pitchFamily="18" charset="0"/>
              </a:rPr>
              <a:t> before performing feature extraction. </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Feature extraction is activated </a:t>
            </a:r>
            <a:r>
              <a:rPr lang="en-IN" sz="2000" b="1" dirty="0">
                <a:latin typeface="Times New Roman" panose="02020603050405020304" pitchFamily="18" charset="0"/>
                <a:cs typeface="Times New Roman" panose="02020603050405020304" pitchFamily="18" charset="0"/>
              </a:rPr>
              <a:t>only when motion is detected</a:t>
            </a:r>
            <a:r>
              <a:rPr lang="en-IN" sz="2000" dirty="0">
                <a:latin typeface="Times New Roman" panose="02020603050405020304" pitchFamily="18" charset="0"/>
                <a:cs typeface="Times New Roman" panose="02020603050405020304" pitchFamily="18" charset="0"/>
              </a:rPr>
              <a:t>, reducing unnecessary processing of static images.</a:t>
            </a:r>
          </a:p>
          <a:p>
            <a:pPr lvl="0"/>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performs feature extraction using </a:t>
            </a:r>
            <a:r>
              <a:rPr lang="en-IN" sz="2000" b="1" dirty="0">
                <a:latin typeface="Times New Roman" panose="02020603050405020304" pitchFamily="18" charset="0"/>
                <a:cs typeface="Times New Roman" panose="02020603050405020304" pitchFamily="18" charset="0"/>
              </a:rPr>
              <a:t>3 × 3 convolution, </a:t>
            </a:r>
            <a:r>
              <a:rPr lang="en-IN" sz="2000" b="1" dirty="0" err="1">
                <a:latin typeface="Times New Roman" panose="02020603050405020304" pitchFamily="18" charset="0"/>
                <a:cs typeface="Times New Roman" panose="02020603050405020304" pitchFamily="18" charset="0"/>
              </a:rPr>
              <a:t>ReLU</a:t>
            </a:r>
            <a:r>
              <a:rPr lang="en-IN" sz="2000" b="1" dirty="0">
                <a:latin typeface="Times New Roman" panose="02020603050405020304" pitchFamily="18" charset="0"/>
                <a:cs typeface="Times New Roman" panose="02020603050405020304" pitchFamily="18" charset="0"/>
              </a:rPr>
              <a:t> activation, and 2 × 2 max pooling</a:t>
            </a:r>
            <a:r>
              <a:rPr lang="en-IN" sz="2000" dirty="0">
                <a:latin typeface="Times New Roman" panose="02020603050405020304" pitchFamily="18" charset="0"/>
                <a:cs typeface="Times New Roman" panose="02020603050405020304" pitchFamily="18" charset="0"/>
              </a:rPr>
              <a:t>. </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proposed architecture achieves </a:t>
            </a:r>
            <a:r>
              <a:rPr lang="en-IN" sz="2000" b="1" dirty="0">
                <a:latin typeface="Times New Roman" panose="02020603050405020304" pitchFamily="18" charset="0"/>
                <a:cs typeface="Times New Roman" panose="02020603050405020304" pitchFamily="18" charset="0"/>
              </a:rPr>
              <a:t>low-power and energy-efficient image processing</a:t>
            </a:r>
            <a:r>
              <a:rPr lang="en-IN" sz="2000" dirty="0">
                <a:latin typeface="Times New Roman" panose="02020603050405020304" pitchFamily="18" charset="0"/>
                <a:cs typeface="Times New Roman" panose="02020603050405020304" pitchFamily="18" charset="0"/>
              </a:rPr>
              <a:t>, making it suitable for always-on edge-vision applications. </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6718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10BD77-21C6-3578-0416-FB9F36B531EF}"/>
              </a:ext>
            </a:extLst>
          </p:cNvPr>
          <p:cNvSpPr txBox="1"/>
          <p:nvPr/>
        </p:nvSpPr>
        <p:spPr>
          <a:xfrm>
            <a:off x="422787" y="1074510"/>
            <a:ext cx="11346426" cy="5016758"/>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Outcomes:</a:t>
            </a:r>
          </a:p>
          <a:p>
            <a:pPr>
              <a:buNone/>
            </a:pPr>
            <a:endParaRPr lang="en-IN" sz="2000" b="1"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proposed computing core operates at </a:t>
            </a:r>
            <a:r>
              <a:rPr lang="en-IN" sz="2000" b="1" dirty="0">
                <a:latin typeface="Times New Roman" panose="02020603050405020304" pitchFamily="18" charset="0"/>
                <a:cs typeface="Times New Roman" panose="02020603050405020304" pitchFamily="18" charset="0"/>
              </a:rPr>
              <a:t>0.8 V</a:t>
            </a:r>
            <a:r>
              <a:rPr lang="en-IN" sz="2000" dirty="0">
                <a:latin typeface="Times New Roman" panose="02020603050405020304" pitchFamily="18" charset="0"/>
                <a:cs typeface="Times New Roman" panose="02020603050405020304" pitchFamily="18" charset="0"/>
              </a:rPr>
              <a:t> and achieves a low-power, always-on image-processing capability. </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consumes </a:t>
            </a:r>
            <a:r>
              <a:rPr lang="en-IN" sz="2000" b="1" dirty="0">
                <a:latin typeface="Times New Roman" panose="02020603050405020304" pitchFamily="18" charset="0"/>
                <a:cs typeface="Times New Roman" panose="02020603050405020304" pitchFamily="18" charset="0"/>
              </a:rPr>
              <a:t>5.23 µW during motion detection</a:t>
            </a:r>
            <a:r>
              <a:rPr lang="en-IN" sz="2000" dirty="0">
                <a:latin typeface="Times New Roman" panose="02020603050405020304" pitchFamily="18" charset="0"/>
                <a:cs typeface="Times New Roman" panose="02020603050405020304" pitchFamily="18" charset="0"/>
              </a:rPr>
              <a:t> and </a:t>
            </a:r>
            <a:r>
              <a:rPr lang="en-IN" sz="2000" b="1" dirty="0">
                <a:latin typeface="Times New Roman" panose="02020603050405020304" pitchFamily="18" charset="0"/>
                <a:cs typeface="Times New Roman" panose="02020603050405020304" pitchFamily="18" charset="0"/>
              </a:rPr>
              <a:t>17.53 µW during feature extraction</a:t>
            </a:r>
            <a:r>
              <a:rPr lang="en-IN" sz="2000" dirty="0">
                <a:latin typeface="Times New Roman" panose="02020603050405020304" pitchFamily="18" charset="0"/>
                <a:cs typeface="Times New Roman" panose="02020603050405020304" pitchFamily="18" charset="0"/>
              </a:rPr>
              <a:t>, with an energy efficiency of </a:t>
            </a:r>
            <a:r>
              <a:rPr lang="en-IN" sz="2000" b="1" dirty="0">
                <a:latin typeface="Times New Roman" panose="02020603050405020304" pitchFamily="18" charset="0"/>
                <a:cs typeface="Times New Roman" panose="02020603050405020304" pitchFamily="18" charset="0"/>
              </a:rPr>
              <a:t>1.5 TOPS/W</a:t>
            </a:r>
            <a:r>
              <a:rPr lang="en-IN" sz="2000" dirty="0">
                <a:latin typeface="Times New Roman" panose="02020603050405020304" pitchFamily="18" charset="0"/>
                <a:cs typeface="Times New Roman" panose="02020603050405020304" pitchFamily="18" charset="0"/>
              </a:rPr>
              <a:t>. </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successfully performs </a:t>
            </a:r>
            <a:r>
              <a:rPr lang="en-IN" sz="2000" b="1" dirty="0">
                <a:latin typeface="Times New Roman" panose="02020603050405020304" pitchFamily="18" charset="0"/>
                <a:cs typeface="Times New Roman" panose="02020603050405020304" pitchFamily="18" charset="0"/>
              </a:rPr>
              <a:t>edge extraction and </a:t>
            </a:r>
            <a:r>
              <a:rPr lang="en-IN" sz="2000" b="1" dirty="0" err="1">
                <a:latin typeface="Times New Roman" panose="02020603050405020304" pitchFamily="18" charset="0"/>
                <a:cs typeface="Times New Roman" panose="02020603050405020304" pitchFamily="18" charset="0"/>
              </a:rPr>
              <a:t>downsampling</a:t>
            </a:r>
            <a:r>
              <a:rPr lang="en-IN" sz="2000" dirty="0">
                <a:latin typeface="Times New Roman" panose="02020603050405020304" pitchFamily="18" charset="0"/>
                <a:cs typeface="Times New Roman" panose="02020603050405020304" pitchFamily="18" charset="0"/>
              </a:rPr>
              <a:t> to generate a reduced feature map. </a:t>
            </a:r>
          </a:p>
          <a:p>
            <a:pPr marL="342900" lvl="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proposed computing core achieves </a:t>
            </a:r>
            <a:r>
              <a:rPr lang="en-IN" sz="2000" b="1" dirty="0">
                <a:latin typeface="Times New Roman" panose="02020603050405020304" pitchFamily="18" charset="0"/>
                <a:cs typeface="Times New Roman" panose="02020603050405020304" pitchFamily="18" charset="0"/>
              </a:rPr>
              <a:t>95.09% MNIST classification accuracy</a:t>
            </a:r>
            <a:r>
              <a:rPr lang="en-IN" sz="2000" dirty="0">
                <a:latin typeface="Times New Roman" panose="02020603050405020304" pitchFamily="18" charset="0"/>
                <a:cs typeface="Times New Roman" panose="02020603050405020304" pitchFamily="18" charset="0"/>
              </a:rPr>
              <a:t>, with only </a:t>
            </a:r>
            <a:r>
              <a:rPr lang="en-IN" sz="2000" b="1" dirty="0">
                <a:latin typeface="Times New Roman" panose="02020603050405020304" pitchFamily="18" charset="0"/>
                <a:cs typeface="Times New Roman" panose="02020603050405020304" pitchFamily="18" charset="0"/>
              </a:rPr>
              <a:t>0.86% accuracy degradation</a:t>
            </a:r>
            <a:r>
              <a:rPr lang="en-IN" sz="2000" dirty="0">
                <a:latin typeface="Times New Roman" panose="02020603050405020304" pitchFamily="18" charset="0"/>
                <a:cs typeface="Times New Roman" panose="02020603050405020304" pitchFamily="18" charset="0"/>
              </a:rPr>
              <a:t> compared with the ideal software implementation. </a:t>
            </a:r>
          </a:p>
          <a:p>
            <a:pPr lvl="0"/>
            <a:endParaRPr lang="en-IN" sz="20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Overall, the architecture reduces </a:t>
            </a:r>
            <a:r>
              <a:rPr lang="en-IN" sz="2000" b="1" dirty="0">
                <a:latin typeface="Times New Roman" panose="02020603050405020304" pitchFamily="18" charset="0"/>
                <a:cs typeface="Times New Roman" panose="02020603050405020304" pitchFamily="18" charset="0"/>
              </a:rPr>
              <a:t>unnecessary computation and data transfer</a:t>
            </a:r>
            <a:r>
              <a:rPr lang="en-IN" sz="2000" dirty="0">
                <a:latin typeface="Times New Roman" panose="02020603050405020304" pitchFamily="18" charset="0"/>
                <a:cs typeface="Times New Roman" panose="02020603050405020304" pitchFamily="18" charset="0"/>
              </a:rPr>
              <a:t>, making it suitable for low-power edge-intelligent vision applications. </a:t>
            </a:r>
          </a:p>
        </p:txBody>
      </p:sp>
    </p:spTree>
    <p:extLst>
      <p:ext uri="{BB962C8B-B14F-4D97-AF65-F5344CB8AC3E}">
        <p14:creationId xmlns:p14="http://schemas.microsoft.com/office/powerpoint/2010/main" val="3623776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3A6EC9-D2F1-A165-CD97-37B2F8E3AA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6095" y="568961"/>
            <a:ext cx="10599906" cy="6146164"/>
          </a:xfrm>
          <a:prstGeom prst="rect">
            <a:avLst/>
          </a:prstGeom>
        </p:spPr>
      </p:pic>
    </p:spTree>
    <p:extLst>
      <p:ext uri="{BB962C8B-B14F-4D97-AF65-F5344CB8AC3E}">
        <p14:creationId xmlns:p14="http://schemas.microsoft.com/office/powerpoint/2010/main" val="3366717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6BC69D2-B2DD-8CA3-4680-C267AC1E497E}"/>
              </a:ext>
            </a:extLst>
          </p:cNvPr>
          <p:cNvPicPr>
            <a:picLocks noChangeAspect="1"/>
          </p:cNvPicPr>
          <p:nvPr/>
        </p:nvPicPr>
        <p:blipFill>
          <a:blip r:embed="rId2"/>
          <a:srcRect l="-14760" t="-16577" r="14760" b="16577"/>
          <a:stretch>
            <a:fillRect/>
          </a:stretch>
        </p:blipFill>
        <p:spPr>
          <a:xfrm>
            <a:off x="-8505093" y="-7400681"/>
            <a:ext cx="22402800" cy="16548100"/>
          </a:xfrm>
          <a:prstGeom prst="rect">
            <a:avLst/>
          </a:prstGeom>
        </p:spPr>
      </p:pic>
    </p:spTree>
    <p:extLst>
      <p:ext uri="{BB962C8B-B14F-4D97-AF65-F5344CB8AC3E}">
        <p14:creationId xmlns:p14="http://schemas.microsoft.com/office/powerpoint/2010/main" val="35643653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TotalTime>
  <Words>662</Words>
  <Application>Microsoft Office PowerPoint</Application>
  <PresentationFormat>Widescreen</PresentationFormat>
  <Paragraphs>58</Paragraphs>
  <Slides>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Algerian</vt: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priethwin r</dc:creator>
  <cp:lastModifiedBy>priethwin r</cp:lastModifiedBy>
  <cp:revision>1</cp:revision>
  <dcterms:created xsi:type="dcterms:W3CDTF">2026-08-18T08:51:35Z</dcterms:created>
  <dcterms:modified xsi:type="dcterms:W3CDTF">2026-08-18T09:53:11Z</dcterms:modified>
</cp:coreProperties>
</file>